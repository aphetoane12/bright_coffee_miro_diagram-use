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400" b="1">
                <a:solidFill>
                  <a:srgbClr val="F5E6D3"/>
                </a:solidFill>
                <a:latin typeface="Georgia"/>
              </a:rPr>
              <a:t>BRIGHT COFFEE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0">
                <a:solidFill>
                  <a:srgbClr val="C68B59"/>
                </a:solidFill>
                <a:latin typeface="Georgia"/>
              </a:rPr>
              <a:t>2023 Sales Performance &amp; Growth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5E6D3"/>
                </a:solidFill>
                <a:latin typeface="Calibri"/>
              </a:rPr>
              <a:t>Prepared for the CEO  •  Junior Data Analyst  •  Jan – Jun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B2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F5E6D3"/>
                </a:solidFill>
                <a:latin typeface="Georgia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41148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83040"/>
            <a:ext cx="365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3B2417"/>
                </a:solidFill>
                <a:latin typeface="Calibri"/>
              </a:rPr>
              <a:t>Executive Summary &amp; Key KPIs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41148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68840"/>
            <a:ext cx="365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4884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3B2417"/>
                </a:solidFill>
                <a:latin typeface="Calibri"/>
              </a:rPr>
              <a:t>Revenue Performance — Categories, Stores, Trend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34640"/>
            <a:ext cx="41148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54640"/>
            <a:ext cx="365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3464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3B2417"/>
                </a:solidFill>
                <a:latin typeface="Calibri"/>
              </a:rPr>
              <a:t>Customer Behavior — 30-Min Time-Slot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20440"/>
            <a:ext cx="41148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40440"/>
            <a:ext cx="365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2044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3B2417"/>
                </a:solidFill>
                <a:latin typeface="Calibri"/>
              </a:rPr>
              <a:t>Product Performance — Top &amp; Bottom Sellers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06240"/>
            <a:ext cx="41148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26240"/>
            <a:ext cx="365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3B2417"/>
                </a:solidFill>
                <a:latin typeface="Calibri"/>
              </a:rPr>
              <a:t>Strategic Recommendations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92040"/>
            <a:ext cx="41148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12040"/>
            <a:ext cx="365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9204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3B2417"/>
                </a:solidFill>
                <a:latin typeface="Calibri"/>
              </a:rPr>
              <a:t>Next Steps &amp;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B2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5E6D3"/>
                </a:solidFill>
                <a:latin typeface="Georgia"/>
              </a:rPr>
              <a:t>Executive Summary — Headline KPIs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C68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37160" cy="2377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32918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6F4E37"/>
                </a:solidFill>
                <a:latin typeface="Georgia"/>
              </a:rPr>
              <a:t>$698,812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3B2417"/>
                </a:solidFill>
                <a:latin typeface="Calibri"/>
              </a:rPr>
              <a:t>Total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2918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F4E37"/>
                </a:solidFill>
                <a:latin typeface="Calibri"/>
              </a:rPr>
              <a:t>Jan – Jun 2023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C68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80160"/>
            <a:ext cx="137160" cy="2377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08760"/>
            <a:ext cx="32918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6F4E37"/>
                </a:solidFill>
                <a:latin typeface="Georgia"/>
              </a:rPr>
              <a:t>214,470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23160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3B2417"/>
                </a:solidFill>
                <a:latin typeface="Calibri"/>
              </a:rPr>
              <a:t>Units Sold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926080"/>
            <a:ext cx="32918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F4E37"/>
                </a:solidFill>
                <a:latin typeface="Calibri"/>
              </a:rPr>
              <a:t>across 80 SKUs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C68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137160" cy="2377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508760"/>
            <a:ext cx="32918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6F4E37"/>
                </a:solidFill>
                <a:latin typeface="Georgia"/>
              </a:rPr>
              <a:t>149,116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423160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3B2417"/>
                </a:solidFill>
                <a:latin typeface="Calibri"/>
              </a:rPr>
              <a:t>Transactions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926080"/>
            <a:ext cx="32918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F4E37"/>
                </a:solidFill>
                <a:latin typeface="Calibri"/>
              </a:rPr>
              <a:t>avg ticket $4.69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8620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C68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137160" cy="2377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32918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6F4E37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3B2417"/>
                </a:solidFill>
                <a:latin typeface="Calibri"/>
              </a:rPr>
              <a:t>Store Locations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32120"/>
            <a:ext cx="32918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F4E37"/>
                </a:solidFill>
                <a:latin typeface="Calibri"/>
              </a:rPr>
              <a:t>NYC: Hell's Kitchen, Astoria, L. Manhattan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88620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C68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886200"/>
            <a:ext cx="137160" cy="2377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114800"/>
            <a:ext cx="32918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6F4E37"/>
                </a:solidFill>
                <a:latin typeface="Georgia"/>
              </a:rPr>
              <a:t>+104%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5029200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3B2417"/>
                </a:solidFill>
                <a:latin typeface="Calibri"/>
              </a:rPr>
              <a:t>Revenue 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532120"/>
            <a:ext cx="32918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F4E37"/>
                </a:solidFill>
                <a:latin typeface="Calibri"/>
              </a:rPr>
              <a:t>Jan → Jun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88620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C68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3886200"/>
            <a:ext cx="137160" cy="2377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4114800"/>
            <a:ext cx="32918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6F4E37"/>
                </a:solidFill>
                <a:latin typeface="Georgia"/>
              </a:rPr>
              <a:t>08:00–11:00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029200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3B2417"/>
                </a:solidFill>
                <a:latin typeface="Calibri"/>
              </a:rPr>
              <a:t>Peak Window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532120"/>
            <a:ext cx="32918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F4E37"/>
                </a:solidFill>
                <a:latin typeface="Calibri"/>
              </a:rPr>
              <a:t>36% of daily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B2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5E6D3"/>
                </a:solidFill>
                <a:latin typeface="Georgia"/>
              </a:rPr>
              <a:t>Revenue by Product Category</a:t>
            </a:r>
          </a:p>
        </p:txBody>
      </p:sp>
      <p:pic>
        <p:nvPicPr>
          <p:cNvPr id="5" name="Picture 4" descr="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9546336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280160"/>
            <a:ext cx="4023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91640"/>
            <a:ext cx="4114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B2417"/>
                </a:solidFill>
                <a:latin typeface="Calibri"/>
              </a:rPr>
              <a:t>• Coffee dominates — $270K (39%)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286000"/>
            <a:ext cx="4114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B2417"/>
                </a:solidFill>
                <a:latin typeface="Calibri"/>
              </a:rPr>
              <a:t>• Tea is #2 — $196K (28%)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880360"/>
            <a:ext cx="4114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B2417"/>
                </a:solidFill>
                <a:latin typeface="Calibri"/>
              </a:rPr>
              <a:t>• Coffee + Tea + Bakery = 78% of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474720"/>
            <a:ext cx="4114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B2417"/>
                </a:solidFill>
                <a:latin typeface="Calibri"/>
              </a:rPr>
              <a:t>• Packaged Chocolate is the smallest category at &lt;1%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069080"/>
            <a:ext cx="4114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B2417"/>
                </a:solidFill>
                <a:latin typeface="Calibri"/>
              </a:rPr>
              <a:t>• Beverage-led mix; food attach is an upside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B2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5E6D3"/>
                </a:solidFill>
                <a:latin typeface="Georgia"/>
              </a:rPr>
              <a:t>Store Performance &amp; Monthly Trend</a:t>
            </a:r>
          </a:p>
        </p:txBody>
      </p:sp>
      <p:pic>
        <p:nvPicPr>
          <p:cNvPr id="5" name="Picture 4" descr="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022592" cy="4389120"/>
          </a:xfrm>
          <a:prstGeom prst="rect">
            <a:avLst/>
          </a:prstGeom>
        </p:spPr>
      </p:pic>
      <p:pic>
        <p:nvPicPr>
          <p:cNvPr id="6" name="Picture 5" descr="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7900416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B2417"/>
                </a:solidFill>
                <a:latin typeface="Calibri"/>
              </a:rPr>
              <a:t>Stores are remarkably balanced (~$232K each). Revenue more than doubled from Jan ($82K) to Jun ($166K) — strong momentum.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B2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5E6D3"/>
                </a:solidFill>
                <a:latin typeface="Georgia"/>
              </a:rPr>
              <a:t>Sales by 30-Minute Time Slot</a:t>
            </a:r>
          </a:p>
        </p:txBody>
      </p:sp>
      <p:pic>
        <p:nvPicPr>
          <p:cNvPr id="5" name="Picture 4" descr="ho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412480" cy="38238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0" y="128016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PEAK / OFF-PEAK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0" y="1783080"/>
            <a:ext cx="32004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68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182880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Calibri"/>
              </a:rPr>
              <a:t>PEAK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214884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B2417"/>
                </a:solidFill>
                <a:latin typeface="Calibri"/>
              </a:rPr>
              <a:t>08:00 – 11:00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242316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F4E37"/>
                </a:solidFill>
                <a:latin typeface="Calibri"/>
              </a:rPr>
              <a:t>$257K (36%)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2926080"/>
            <a:ext cx="32004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68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97180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Calibri"/>
              </a:rPr>
              <a:t>STEADY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329184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B2417"/>
                </a:solidFill>
                <a:latin typeface="Calibri"/>
              </a:rPr>
              <a:t>11:00 – 18:00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356616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F4E37"/>
                </a:solidFill>
                <a:latin typeface="Calibri"/>
              </a:rPr>
              <a:t>Flat ~$20K each slot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4069080"/>
            <a:ext cx="32004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68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411480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Calibri"/>
              </a:rPr>
              <a:t>OFF-PEAK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443484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B2417"/>
                </a:solidFill>
                <a:latin typeface="Calibri"/>
              </a:rPr>
              <a:t>06:00, 18:30 – close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470916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F4E37"/>
                </a:solidFill>
                <a:latin typeface="Calibri"/>
              </a:rPr>
              <a:t>&lt; $15K per slot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5212080"/>
            <a:ext cx="32004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68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525780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Calibri"/>
              </a:rPr>
              <a:t>DEAD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557784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B2417"/>
                </a:solidFill>
                <a:latin typeface="Calibri"/>
              </a:rPr>
              <a:t>After 20:00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585216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F4E37"/>
                </a:solidFill>
                <a:latin typeface="Calibri"/>
              </a:rPr>
              <a:t>&lt; $3K — review hours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B2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5E6D3"/>
                </a:solidFill>
                <a:latin typeface="Georgia"/>
              </a:rPr>
              <a:t>Top 10 Best-Selling Products</a:t>
            </a:r>
          </a:p>
        </p:txBody>
      </p:sp>
      <p:pic>
        <p:nvPicPr>
          <p:cNvPr id="5" name="Picture 4" descr="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828116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28016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91640"/>
            <a:ext cx="3840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B2417"/>
                </a:solidFill>
                <a:latin typeface="Calibri"/>
              </a:rPr>
              <a:t>• Top 10 SKUs = $177K (25% of total)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331720"/>
            <a:ext cx="3840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B2417"/>
                </a:solidFill>
                <a:latin typeface="Calibri"/>
              </a:rPr>
              <a:t>• Sustainably Grown Organic Lg leads at $21.2K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971800"/>
            <a:ext cx="3840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B2417"/>
                </a:solidFill>
                <a:latin typeface="Calibri"/>
              </a:rPr>
              <a:t>• 'Lg' (Large) sizes dominate — upsell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611879"/>
            <a:ext cx="3840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B2417"/>
                </a:solidFill>
                <a:latin typeface="Calibri"/>
              </a:rPr>
              <a:t>• Stock these to never go out-of-stock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251960"/>
            <a:ext cx="3840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B2417"/>
                </a:solidFill>
                <a:latin typeface="Calibri"/>
              </a:rPr>
              <a:t>• Feature in combo deals &amp; loyalty rewards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B2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5E6D3"/>
                </a:solidFill>
                <a:latin typeface="Georgia"/>
              </a:rPr>
              <a:t>Bottom 10 Underperforming Products</a:t>
            </a:r>
          </a:p>
        </p:txBody>
      </p:sp>
      <p:pic>
        <p:nvPicPr>
          <p:cNvPr id="5" name="Picture 4" descr="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828116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28016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DIAGNOSIS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91640"/>
            <a:ext cx="3840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B2417"/>
                </a:solidFill>
                <a:latin typeface="Calibri"/>
              </a:rPr>
              <a:t>• All bottom SKUs are 'Regular' size variants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331720"/>
            <a:ext cx="3840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B2417"/>
                </a:solidFill>
                <a:latin typeface="Calibri"/>
              </a:rPr>
              <a:t>• Lg counterparts often top sellers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971800"/>
            <a:ext cx="3840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B2417"/>
                </a:solidFill>
                <a:latin typeface="Calibri"/>
              </a:rPr>
              <a:t>• Size/price gap drives upsell — keep small for 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611879"/>
            <a:ext cx="3840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B2417"/>
                </a:solidFill>
                <a:latin typeface="Calibri"/>
              </a:rPr>
              <a:t>• Promote via 'try-it' samples, bundles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251960"/>
            <a:ext cx="3840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B2417"/>
                </a:solidFill>
                <a:latin typeface="Calibri"/>
              </a:rPr>
              <a:t>• Discontinue only if margin &lt; threshold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B2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5E6D3"/>
                </a:solidFill>
                <a:latin typeface="Georgia"/>
              </a:rPr>
              <a:t>Strategic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68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822960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822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2344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3B2417"/>
                </a:solidFill>
                <a:latin typeface="Calibri"/>
              </a:rPr>
              <a:t>Happy Hour 14:00 – 17:00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00200"/>
            <a:ext cx="100584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F4E37"/>
                </a:solidFill>
                <a:latin typeface="Calibri"/>
              </a:rPr>
              <a:t>20% off pastries + drink combo to lift the mid-day plateau (~$20K/slot). Target +15% revenue in window.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11247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68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822960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822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3B2417"/>
                </a:solidFill>
                <a:latin typeface="Calibri"/>
              </a:rPr>
              <a:t>Stock-Up Bestsellers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97480"/>
            <a:ext cx="100584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F4E37"/>
                </a:solidFill>
                <a:latin typeface="Calibri"/>
              </a:rPr>
              <a:t>Guarantee 100% in-stock for top 10 SKUs (Sustainably Grown Lg, Dark Chocolate Lg, Latte Rg). Set auto-reorder thresholds.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11247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68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337560"/>
            <a:ext cx="822960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11880"/>
            <a:ext cx="822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42900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3B2417"/>
                </a:solidFill>
                <a:latin typeface="Calibri"/>
              </a:rPr>
              <a:t>Promote Underperformers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794760"/>
            <a:ext cx="100584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F4E37"/>
                </a:solidFill>
                <a:latin typeface="Calibri"/>
              </a:rPr>
              <a:t>Pair bottom-10 'Rg' items as free upgrades or in 'Try Something New' loyalty rewards.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34840"/>
            <a:ext cx="11247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68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434840"/>
            <a:ext cx="822960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09160"/>
            <a:ext cx="822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2628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3B2417"/>
                </a:solidFill>
                <a:latin typeface="Calibri"/>
              </a:rPr>
              <a:t>Morning Combo Push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892040"/>
            <a:ext cx="100584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F4E37"/>
                </a:solidFill>
                <a:latin typeface="Calibri"/>
              </a:rPr>
              <a:t>08:00–11:00 already drives 36% — add 'Coffee + Pastry' bundle to lift avg ticket from $4.69 → $5.50.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32120"/>
            <a:ext cx="11247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68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532120"/>
            <a:ext cx="822960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806440"/>
            <a:ext cx="822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62356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3B2417"/>
                </a:solidFill>
                <a:latin typeface="Calibri"/>
              </a:rPr>
              <a:t>Close Late Hours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989320"/>
            <a:ext cx="100584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F4E37"/>
                </a:solidFill>
                <a:latin typeface="Calibri"/>
              </a:rPr>
              <a:t>After 20:00 generates &lt; $3K total — evaluate closing 1h earlier to cut labor.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B2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5E6D3"/>
                </a:solidFill>
                <a:latin typeface="Georgia"/>
              </a:rPr>
              <a:t>Next Steps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57784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C68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577840" cy="457200"/>
          </a:xfrm>
          <a:prstGeom prst="rect">
            <a:avLst/>
          </a:prstGeom>
          <a:solidFill>
            <a:srgbClr val="3B2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AUTOMATE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B2417"/>
                </a:solidFill>
                <a:latin typeface="Georgia"/>
              </a:rPr>
              <a:t>Daily sales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52120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F4E37"/>
                </a:solidFill>
                <a:latin typeface="Calibri"/>
              </a:rPr>
              <a:t>Databricks job → Snowflake → Power BI auto-refresh each morning at 06:00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57784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C68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577840" cy="457200"/>
          </a:xfrm>
          <a:prstGeom prst="rect">
            <a:avLst/>
          </a:prstGeom>
          <a:solidFill>
            <a:srgbClr val="3B2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2588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EXPAND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B2417"/>
                </a:solidFill>
                <a:latin typeface="Georgia"/>
              </a:rPr>
              <a:t>Multi-store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52120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F4E37"/>
                </a:solidFill>
                <a:latin typeface="Calibri"/>
              </a:rPr>
              <a:t>Standardize KPIs across 3 stores; ready to onboard new locations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557784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C68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5577840" cy="457200"/>
          </a:xfrm>
          <a:prstGeom prst="rect">
            <a:avLst/>
          </a:prstGeom>
          <a:solidFill>
            <a:srgbClr val="3B2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7764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ENGAGE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B2417"/>
                </a:solidFill>
                <a:latin typeface="Georgia"/>
              </a:rPr>
              <a:t>Loyalty program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52120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F4E37"/>
                </a:solidFill>
                <a:latin typeface="Calibri"/>
              </a:rPr>
              <a:t>Reward repeat customers in 08:00–11:00 peak; push notifications for off-peak visits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557784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C68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931920"/>
            <a:ext cx="5577840" cy="457200"/>
          </a:xfrm>
          <a:prstGeom prst="rect">
            <a:avLst/>
          </a:prstGeom>
          <a:solidFill>
            <a:srgbClr val="3B2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97764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72000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B2417"/>
                </a:solidFill>
                <a:latin typeface="Georgia"/>
              </a:rPr>
              <a:t>A/B test campaigns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120640"/>
            <a:ext cx="52120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F4E37"/>
                </a:solidFill>
                <a:latin typeface="Calibri"/>
              </a:rPr>
              <a:t>Instrument promotions; track lift on 30-min slot revenue weekly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6000" b="1">
                <a:solidFill>
                  <a:srgbClr val="F5E6D3"/>
                </a:solidFill>
                <a:latin typeface="Georg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0">
                <a:solidFill>
                  <a:srgbClr val="C68B59"/>
                </a:solidFill>
                <a:latin typeface="Georgia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F5E6D3"/>
                </a:solidFill>
                <a:latin typeface="Calibri"/>
              </a:rPr>
              <a:t>Bright Coffee Shop  •  Sales Insights 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